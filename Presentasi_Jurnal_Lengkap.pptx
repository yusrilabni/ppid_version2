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0E7EC-15CA-F656-57C9-289BCCD651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283505-5A5D-68D4-776D-2448DA569C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8B23D0-033E-2C24-3F48-C8C8447E8EB4}"/>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5" name="Footer Placeholder 4">
            <a:extLst>
              <a:ext uri="{FF2B5EF4-FFF2-40B4-BE49-F238E27FC236}">
                <a16:creationId xmlns:a16="http://schemas.microsoft.com/office/drawing/2014/main" id="{87737079-72D1-39A3-3249-D55C07B42C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668150-77B9-8784-635B-A78336B82B23}"/>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1588293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11A12-0F91-E600-32D7-2F3E93EC0F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3899BF-8886-A19E-7243-3BE210A079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ADBA5-2FA4-2915-A1E3-89AA80E1FD4A}"/>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5" name="Footer Placeholder 4">
            <a:extLst>
              <a:ext uri="{FF2B5EF4-FFF2-40B4-BE49-F238E27FC236}">
                <a16:creationId xmlns:a16="http://schemas.microsoft.com/office/drawing/2014/main" id="{116A01B5-FF01-C11D-54B5-2D20791384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37702F-BF86-8ACD-D4F7-100AA675C4A2}"/>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283200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FB442-22D0-3C28-E23B-03C8E350AA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BB2F28-7EF2-1FE6-361D-69EEE945E7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A6591F-55CF-1B7F-C973-F8299150346D}"/>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5" name="Footer Placeholder 4">
            <a:extLst>
              <a:ext uri="{FF2B5EF4-FFF2-40B4-BE49-F238E27FC236}">
                <a16:creationId xmlns:a16="http://schemas.microsoft.com/office/drawing/2014/main" id="{C5E6F869-6125-D9BE-8EA8-88D7D06AC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613B7E-77FB-630F-7FEC-EE8FC2749B54}"/>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919044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E62C5-EAB8-8A51-F526-F78650C569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16EE40-9D3F-3184-3B32-90105F7B89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787805-AA32-6347-2376-C661E8497F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DCDDEE-88E4-E6F7-7498-F56D11F45F49}"/>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6" name="Footer Placeholder 5">
            <a:extLst>
              <a:ext uri="{FF2B5EF4-FFF2-40B4-BE49-F238E27FC236}">
                <a16:creationId xmlns:a16="http://schemas.microsoft.com/office/drawing/2014/main" id="{951CEDCE-DFAA-3AA5-2F49-D1082E9031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25BAFE-A2BF-D6A1-121C-ABE683E7B353}"/>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813659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E4CB-2FED-D44D-20B0-9946F2589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6470BF-F966-54F8-F963-0E6FED60FF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B64BEF-2F9C-2A75-76D9-5F0E830D8C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A1A7A8-1AEF-6882-878B-543C839770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85CE74-4E8D-4EEA-17A2-0A7E78B58E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39BE2F-D6AD-6930-6E6E-BB27003267EC}"/>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8" name="Footer Placeholder 7">
            <a:extLst>
              <a:ext uri="{FF2B5EF4-FFF2-40B4-BE49-F238E27FC236}">
                <a16:creationId xmlns:a16="http://schemas.microsoft.com/office/drawing/2014/main" id="{6490BCDF-5F79-4476-A39A-187ED8C5E4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4793B3-054F-AA01-5368-CF3BF61751A7}"/>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878352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AF719-80BE-B82A-44D6-29C77BB7F5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2BB972-C08F-F6B2-E39D-2E4F73CC27E9}"/>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4" name="Footer Placeholder 3">
            <a:extLst>
              <a:ext uri="{FF2B5EF4-FFF2-40B4-BE49-F238E27FC236}">
                <a16:creationId xmlns:a16="http://schemas.microsoft.com/office/drawing/2014/main" id="{04542E82-141E-E268-337B-9CF107026C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7CC5EA-9F04-664D-F557-5708CD0DDA0B}"/>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1365684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2F51F7-1819-6328-52F3-BD7ECD387D7C}"/>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3" name="Footer Placeholder 2">
            <a:extLst>
              <a:ext uri="{FF2B5EF4-FFF2-40B4-BE49-F238E27FC236}">
                <a16:creationId xmlns:a16="http://schemas.microsoft.com/office/drawing/2014/main" id="{DE2FBFDB-FA8A-35D5-7CCE-C3C7522222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1B3AC1-52AF-66A1-2068-70452AE8B029}"/>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85863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31474-05A2-24FC-7C5A-1FDBD7AC17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3D2F12-4329-8E41-69EE-424A2861F8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6483CA-4491-D5A7-F325-A8E940208B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EFFAF3-456E-6F80-C44B-86AF1B9CFE65}"/>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6" name="Footer Placeholder 5">
            <a:extLst>
              <a:ext uri="{FF2B5EF4-FFF2-40B4-BE49-F238E27FC236}">
                <a16:creationId xmlns:a16="http://schemas.microsoft.com/office/drawing/2014/main" id="{33A8E614-D711-8B33-7A18-39D77D0F74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5275A8-2FBF-6C4A-284C-10493D57F214}"/>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1112363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1D5B1-1DBC-EB96-4062-34C4C04E20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D31351-5F79-68A2-6CDD-61DFD3CE4D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1CF8CC-C2F8-DD46-CB49-305E2B0662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1C79F2-D8A7-13EB-ECA2-D63B3D27DFEC}"/>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6" name="Footer Placeholder 5">
            <a:extLst>
              <a:ext uri="{FF2B5EF4-FFF2-40B4-BE49-F238E27FC236}">
                <a16:creationId xmlns:a16="http://schemas.microsoft.com/office/drawing/2014/main" id="{DBF6344D-BEFE-D12F-2035-3AA24E83EE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373ED-6723-581C-41DD-FAFA2BB681E0}"/>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1602301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483-78DF-D3C9-C3B1-6358EF2E1F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B86C19-4C9D-19DF-D769-54FF953015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BEB6DC-BDF9-D996-5987-87E5EF453146}"/>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5" name="Footer Placeholder 4">
            <a:extLst>
              <a:ext uri="{FF2B5EF4-FFF2-40B4-BE49-F238E27FC236}">
                <a16:creationId xmlns:a16="http://schemas.microsoft.com/office/drawing/2014/main" id="{195A1DFA-8244-D2B8-1693-3FB8E83A4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73EEC2-C6BE-113B-C7EC-B392533EB59E}"/>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1523788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C7814A-BF9B-1FE3-66ED-1B594BFF15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358849-DC25-D6F3-1D86-942B27ACCE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297EC3-38C7-0567-FE6E-B89440FF9DF6}"/>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5" name="Footer Placeholder 4">
            <a:extLst>
              <a:ext uri="{FF2B5EF4-FFF2-40B4-BE49-F238E27FC236}">
                <a16:creationId xmlns:a16="http://schemas.microsoft.com/office/drawing/2014/main" id="{8914463A-458A-20E8-61C2-793AA75349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427CD2-AE0D-71C0-C896-17138B43690B}"/>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1367919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B7B05-9C8C-AE0A-8600-50EE5854F739}"/>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118CD033-480F-5859-A874-C63E78004470}"/>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0EB954-732D-99B7-0D75-93E757C6CE47}"/>
              </a:ext>
            </a:extLst>
          </p:cNvPr>
          <p:cNvSpPr>
            <a:spLocks noGrp="1"/>
          </p:cNvSpPr>
          <p:nvPr>
            <p:ph type="dt" sz="half" idx="10"/>
          </p:nvPr>
        </p:nvSpPr>
        <p:spPr/>
        <p:txBody>
          <a:bodyPr/>
          <a:lstStyle/>
          <a:p>
            <a:fld id="{66AA3A41-1DAF-4059-A195-2D0F5A402183}" type="datetimeFigureOut">
              <a:rPr lang="en-US" smtClean="0"/>
              <a:t>8/10/2026</a:t>
            </a:fld>
            <a:endParaRPr lang="en-US"/>
          </a:p>
        </p:txBody>
      </p:sp>
      <p:sp>
        <p:nvSpPr>
          <p:cNvPr id="5" name="Footer Placeholder 4">
            <a:extLst>
              <a:ext uri="{FF2B5EF4-FFF2-40B4-BE49-F238E27FC236}">
                <a16:creationId xmlns:a16="http://schemas.microsoft.com/office/drawing/2014/main" id="{94A57F28-AD29-5562-DE8D-F0938CDCC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CA41A3-8149-B7E5-7958-C53A5E08DAC0}"/>
              </a:ext>
            </a:extLst>
          </p:cNvPr>
          <p:cNvSpPr>
            <a:spLocks noGrp="1"/>
          </p:cNvSpPr>
          <p:nvPr>
            <p:ph type="sldNum" sz="quarter" idx="12"/>
          </p:nvPr>
        </p:nvSpPr>
        <p:spPr/>
        <p:txBody>
          <a:bodyPr/>
          <a:lstStyle/>
          <a:p>
            <a:fld id="{C06DEB3A-94DC-406B-87A3-98CC097FFDDB}" type="slidenum">
              <a:rPr lang="en-US" smtClean="0"/>
              <a:t>‹#›</a:t>
            </a:fld>
            <a:endParaRPr lang="en-US"/>
          </a:p>
        </p:txBody>
      </p:sp>
    </p:spTree>
    <p:extLst>
      <p:ext uri="{BB962C8B-B14F-4D97-AF65-F5344CB8AC3E}">
        <p14:creationId xmlns:p14="http://schemas.microsoft.com/office/powerpoint/2010/main" val="804492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F636C1-AC44-BBEF-374A-F8A870174E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CF99D9-6646-1C6F-1DCD-9533141FF0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EC130F-2D60-8A3F-4DE9-06424A3E1D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AA3A41-1DAF-4059-A195-2D0F5A402183}" type="datetimeFigureOut">
              <a:rPr lang="en-US" smtClean="0"/>
              <a:t>8/10/2026</a:t>
            </a:fld>
            <a:endParaRPr lang="en-US"/>
          </a:p>
        </p:txBody>
      </p:sp>
      <p:sp>
        <p:nvSpPr>
          <p:cNvPr id="5" name="Footer Placeholder 4">
            <a:extLst>
              <a:ext uri="{FF2B5EF4-FFF2-40B4-BE49-F238E27FC236}">
                <a16:creationId xmlns:a16="http://schemas.microsoft.com/office/drawing/2014/main" id="{231B15EC-218D-E4CC-3986-C3D5C9B169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D294D1-BBDF-D515-6E3E-05F1C29CAD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6DEB3A-94DC-406B-87A3-98CC097FFDDB}" type="slidenum">
              <a:rPr lang="en-US" smtClean="0"/>
              <a:t>‹#›</a:t>
            </a:fld>
            <a:endParaRPr lang="en-US"/>
          </a:p>
        </p:txBody>
      </p:sp>
    </p:spTree>
    <p:extLst>
      <p:ext uri="{BB962C8B-B14F-4D97-AF65-F5344CB8AC3E}">
        <p14:creationId xmlns:p14="http://schemas.microsoft.com/office/powerpoint/2010/main" val="2918496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E80DA-F332-3B47-2E9C-40BC6BFBE69A}"/>
              </a:ext>
            </a:extLst>
          </p:cNvPr>
          <p:cNvSpPr>
            <a:spLocks noGrp="1"/>
          </p:cNvSpPr>
          <p:nvPr>
            <p:ph type="ctrTitle"/>
          </p:nvPr>
        </p:nvSpPr>
        <p:spPr/>
        <p:txBody>
          <a:bodyPr/>
          <a:lstStyle/>
          <a:p>
            <a:r>
              <a:rPr lang="en-US"/>
              <a:t>Evaluasi Usability Website PPID</a:t>
            </a:r>
          </a:p>
        </p:txBody>
      </p:sp>
      <p:sp>
        <p:nvSpPr>
          <p:cNvPr id="3" name="Subtitle 2">
            <a:extLst>
              <a:ext uri="{FF2B5EF4-FFF2-40B4-BE49-F238E27FC236}">
                <a16:creationId xmlns:a16="http://schemas.microsoft.com/office/drawing/2014/main" id="{DFF817EB-04F2-1B18-7BDE-B6F50954C92A}"/>
              </a:ext>
            </a:extLst>
          </p:cNvPr>
          <p:cNvSpPr>
            <a:spLocks noGrp="1"/>
          </p:cNvSpPr>
          <p:nvPr>
            <p:ph type="subTitle" idx="1"/>
          </p:nvPr>
        </p:nvSpPr>
        <p:spPr/>
        <p:txBody>
          <a:bodyPr/>
          <a:lstStyle/>
          <a:p>
            <a:r>
              <a:rPr lang="en-US"/>
              <a:t>Hasil Optimalisasi Sistem &amp; UI/UX`n`nOleh: Muh Yusril Abni</a:t>
            </a:r>
          </a:p>
        </p:txBody>
      </p:sp>
    </p:spTree>
    <p:extLst>
      <p:ext uri="{BB962C8B-B14F-4D97-AF65-F5344CB8AC3E}">
        <p14:creationId xmlns:p14="http://schemas.microsoft.com/office/powerpoint/2010/main" val="2221116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BEA28-BCB0-2705-2595-94CA4DAB703D}"/>
              </a:ext>
            </a:extLst>
          </p:cNvPr>
          <p:cNvSpPr>
            <a:spLocks noGrp="1"/>
          </p:cNvSpPr>
          <p:nvPr>
            <p:ph type="title"/>
          </p:nvPr>
        </p:nvSpPr>
        <p:spPr/>
        <p:txBody>
          <a:bodyPr/>
          <a:lstStyle/>
          <a:p>
            <a:r>
              <a:rPr lang="en-US"/>
              <a:t>Latar Belakang &amp; Tujuan</a:t>
            </a:r>
          </a:p>
        </p:txBody>
      </p:sp>
      <p:sp>
        <p:nvSpPr>
          <p:cNvPr id="3" name="Text Placeholder 2">
            <a:extLst>
              <a:ext uri="{FF2B5EF4-FFF2-40B4-BE49-F238E27FC236}">
                <a16:creationId xmlns:a16="http://schemas.microsoft.com/office/drawing/2014/main" id="{FED8CB4D-2226-26D7-E556-F2103AC53FFE}"/>
              </a:ext>
            </a:extLst>
          </p:cNvPr>
          <p:cNvSpPr>
            <a:spLocks noGrp="1"/>
          </p:cNvSpPr>
          <p:nvPr>
            <p:ph type="body" idx="1"/>
          </p:nvPr>
        </p:nvSpPr>
        <p:spPr/>
        <p:txBody>
          <a:bodyPr/>
          <a:lstStyle/>
          <a:p>
            <a:r>
              <a:rPr lang="en-US"/>
              <a:t>• Melakukan evaluasi mendalam terhadap usability (ketergunaan) Website PPID Kabupaten Sinjai.`n• Mengukur seberapa besar peningkatan produktivitas kerja admin OPD dalam mengelola dokumen publik.`n• Mengidentifikasi kendala kualitatif di lapangan serta memberikan rekomendasi solusi (fitur baru).</a:t>
            </a:r>
          </a:p>
        </p:txBody>
      </p:sp>
    </p:spTree>
    <p:extLst>
      <p:ext uri="{BB962C8B-B14F-4D97-AF65-F5344CB8AC3E}">
        <p14:creationId xmlns:p14="http://schemas.microsoft.com/office/powerpoint/2010/main" val="2330978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7AF91-8E16-E3AA-47FB-FFBE6B767716}"/>
              </a:ext>
            </a:extLst>
          </p:cNvPr>
          <p:cNvSpPr>
            <a:spLocks noGrp="1"/>
          </p:cNvSpPr>
          <p:nvPr>
            <p:ph type="title"/>
          </p:nvPr>
        </p:nvSpPr>
        <p:spPr/>
        <p:txBody>
          <a:bodyPr/>
          <a:lstStyle/>
          <a:p>
            <a:r>
              <a:rPr lang="en-US"/>
              <a:t>Hasil Evaluasi: Pengunggahan &amp; Pengelompokan</a:t>
            </a:r>
          </a:p>
        </p:txBody>
      </p:sp>
      <p:sp>
        <p:nvSpPr>
          <p:cNvPr id="3" name="Text Placeholder 2">
            <a:extLst>
              <a:ext uri="{FF2B5EF4-FFF2-40B4-BE49-F238E27FC236}">
                <a16:creationId xmlns:a16="http://schemas.microsoft.com/office/drawing/2014/main" id="{BFE527BF-7287-6474-A81D-A86A339A9F0C}"/>
              </a:ext>
            </a:extLst>
          </p:cNvPr>
          <p:cNvSpPr>
            <a:spLocks noGrp="1"/>
          </p:cNvSpPr>
          <p:nvPr>
            <p:ph type="body" idx="1"/>
          </p:nvPr>
        </p:nvSpPr>
        <p:spPr/>
        <p:txBody>
          <a:bodyPr/>
          <a:lstStyle/>
          <a:p>
            <a:r>
              <a:rPr lang="en-US"/>
              <a:t>• Kemudahan Mengunggah Dokumen:`n  70,97% responden setuju pengunggahan sudah Cukup Baik.`n• Pengelompokan Dokumen Otomatis:`n  100% responden menyatakan Sangat Baik! Sistem otomatisasi kategori (Berkala/Serta-merta/Setiap Saat) sukses meringankan beban operator.</a:t>
            </a:r>
          </a:p>
        </p:txBody>
      </p:sp>
    </p:spTree>
    <p:extLst>
      <p:ext uri="{BB962C8B-B14F-4D97-AF65-F5344CB8AC3E}">
        <p14:creationId xmlns:p14="http://schemas.microsoft.com/office/powerpoint/2010/main" val="3866335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C5C76-AF76-A18F-C22D-55EED4631C29}"/>
              </a:ext>
            </a:extLst>
          </p:cNvPr>
          <p:cNvSpPr>
            <a:spLocks noGrp="1"/>
          </p:cNvSpPr>
          <p:nvPr>
            <p:ph type="title"/>
          </p:nvPr>
        </p:nvSpPr>
        <p:spPr/>
        <p:txBody>
          <a:bodyPr/>
          <a:lstStyle/>
          <a:p>
            <a:r>
              <a:rPr lang="fi-FI"/>
              <a:t>Hasil Evaluasi: Verifikasi &amp; Alur Kerja</a:t>
            </a:r>
            <a:endParaRPr lang="en-US"/>
          </a:p>
        </p:txBody>
      </p:sp>
      <p:sp>
        <p:nvSpPr>
          <p:cNvPr id="3" name="Text Placeholder 2">
            <a:extLst>
              <a:ext uri="{FF2B5EF4-FFF2-40B4-BE49-F238E27FC236}">
                <a16:creationId xmlns:a16="http://schemas.microsoft.com/office/drawing/2014/main" id="{9FA90DE4-0955-2234-2C08-7083C69FB254}"/>
              </a:ext>
            </a:extLst>
          </p:cNvPr>
          <p:cNvSpPr>
            <a:spLocks noGrp="1"/>
          </p:cNvSpPr>
          <p:nvPr>
            <p:ph type="body" idx="1"/>
          </p:nvPr>
        </p:nvSpPr>
        <p:spPr/>
        <p:txBody>
          <a:bodyPr/>
          <a:lstStyle/>
          <a:p>
            <a:r>
              <a:rPr lang="en-US"/>
              <a:t>• Keakuratan Fitur Verifikasi:`n  80,65% (Baik). Sistem berhasil mendeteksi kelengkapan dokumen dengan akurat.`n• Keringkasan Alur Kerja (Workflow):`n  74,19% (Baik). Dari proses login hingga publikasi menjadi lebih singkat.`n• Kecepatan Respons &amp; Pengelolaan:`n  Tingkat respons dinilai Cukup Baik (70,97%) dan pengelolaan edit/hapus dinilai Baik (74,19%).</a:t>
            </a:r>
          </a:p>
        </p:txBody>
      </p:sp>
    </p:spTree>
    <p:extLst>
      <p:ext uri="{BB962C8B-B14F-4D97-AF65-F5344CB8AC3E}">
        <p14:creationId xmlns:p14="http://schemas.microsoft.com/office/powerpoint/2010/main" val="1995287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4F02-4AA6-97FD-FC7A-884284448376}"/>
              </a:ext>
            </a:extLst>
          </p:cNvPr>
          <p:cNvSpPr>
            <a:spLocks noGrp="1"/>
          </p:cNvSpPr>
          <p:nvPr>
            <p:ph type="title"/>
          </p:nvPr>
        </p:nvSpPr>
        <p:spPr/>
        <p:txBody>
          <a:bodyPr/>
          <a:lstStyle/>
          <a:p>
            <a:r>
              <a:rPr lang="en-US"/>
              <a:t>Temuan Kritis 1: Error Handling</a:t>
            </a:r>
          </a:p>
        </p:txBody>
      </p:sp>
      <p:sp>
        <p:nvSpPr>
          <p:cNvPr id="3" name="Text Placeholder 2">
            <a:extLst>
              <a:ext uri="{FF2B5EF4-FFF2-40B4-BE49-F238E27FC236}">
                <a16:creationId xmlns:a16="http://schemas.microsoft.com/office/drawing/2014/main" id="{2D6926CF-5B66-F5C5-4A97-D7BF6608BC66}"/>
              </a:ext>
            </a:extLst>
          </p:cNvPr>
          <p:cNvSpPr>
            <a:spLocks noGrp="1"/>
          </p:cNvSpPr>
          <p:nvPr>
            <p:ph type="body" idx="1"/>
          </p:nvPr>
        </p:nvSpPr>
        <p:spPr/>
        <p:txBody>
          <a:bodyPr/>
          <a:lstStyle/>
          <a:p>
            <a:r>
              <a:rPr lang="en-US"/>
              <a:t>Sistem Pesan Kesalahan (Error Handling):`n`nSebanyak 100% responden menyatakan "Ya" terhadap kejelasan pesan kesalahan yang dimunculkan sistem saat terjadi kekeliruan pengisian. Hal ini membuktikan sistem sukses memberikan instruksi perbaikan yang sangat jelas sehingga admin tidak kebingungan saat memperbaiki kesalahan input.</a:t>
            </a:r>
          </a:p>
        </p:txBody>
      </p:sp>
    </p:spTree>
    <p:extLst>
      <p:ext uri="{BB962C8B-B14F-4D97-AF65-F5344CB8AC3E}">
        <p14:creationId xmlns:p14="http://schemas.microsoft.com/office/powerpoint/2010/main" val="4166363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3CF70-37B8-5746-FB99-E2AB7519E05E}"/>
              </a:ext>
            </a:extLst>
          </p:cNvPr>
          <p:cNvSpPr>
            <a:spLocks noGrp="1"/>
          </p:cNvSpPr>
          <p:nvPr>
            <p:ph type="title"/>
          </p:nvPr>
        </p:nvSpPr>
        <p:spPr/>
        <p:txBody>
          <a:bodyPr/>
          <a:lstStyle/>
          <a:p>
            <a:r>
              <a:rPr lang="fi-FI"/>
              <a:t>Temuan Kritis 2: Desain Antarmuka (UI/UX)</a:t>
            </a:r>
            <a:endParaRPr lang="en-US"/>
          </a:p>
        </p:txBody>
      </p:sp>
      <p:sp>
        <p:nvSpPr>
          <p:cNvPr id="3" name="Text Placeholder 2">
            <a:extLst>
              <a:ext uri="{FF2B5EF4-FFF2-40B4-BE49-F238E27FC236}">
                <a16:creationId xmlns:a16="http://schemas.microsoft.com/office/drawing/2014/main" id="{408C30FB-37C4-18FC-AC8B-2875B816B109}"/>
              </a:ext>
            </a:extLst>
          </p:cNvPr>
          <p:cNvSpPr>
            <a:spLocks noGrp="1"/>
          </p:cNvSpPr>
          <p:nvPr>
            <p:ph type="body" idx="1"/>
          </p:nvPr>
        </p:nvSpPr>
        <p:spPr/>
        <p:txBody>
          <a:bodyPr/>
          <a:lstStyle/>
          <a:p>
            <a:r>
              <a:rPr lang="en-US"/>
              <a:t>Keberhasilan Desain Antarmuka Visual (UI/UX):`n`n100% (31 responden) memberikan penilaian tertinggi. Hal ini menunjukkan bahwa desain antarmuka visual dashboard admin yang baru ini sudah sangat ergonomis, modern, dan intuitif sehingga mempermudah pekerjaan operator.</a:t>
            </a:r>
          </a:p>
        </p:txBody>
      </p:sp>
    </p:spTree>
    <p:extLst>
      <p:ext uri="{BB962C8B-B14F-4D97-AF65-F5344CB8AC3E}">
        <p14:creationId xmlns:p14="http://schemas.microsoft.com/office/powerpoint/2010/main" val="3649077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BCBDD-B0B7-AA5B-3472-7A1BD833B8A6}"/>
              </a:ext>
            </a:extLst>
          </p:cNvPr>
          <p:cNvSpPr>
            <a:spLocks noGrp="1"/>
          </p:cNvSpPr>
          <p:nvPr>
            <p:ph type="title"/>
          </p:nvPr>
        </p:nvSpPr>
        <p:spPr/>
        <p:txBody>
          <a:bodyPr/>
          <a:lstStyle/>
          <a:p>
            <a:r>
              <a:rPr lang="sv-SE"/>
              <a:t>Temuan Kritis 3: Produktivitas Kerja</a:t>
            </a:r>
            <a:endParaRPr lang="en-US"/>
          </a:p>
        </p:txBody>
      </p:sp>
      <p:sp>
        <p:nvSpPr>
          <p:cNvPr id="3" name="Text Placeholder 2">
            <a:extLst>
              <a:ext uri="{FF2B5EF4-FFF2-40B4-BE49-F238E27FC236}">
                <a16:creationId xmlns:a16="http://schemas.microsoft.com/office/drawing/2014/main" id="{9A7F89BF-E2DA-6AE8-4BB1-A6454CE88471}"/>
              </a:ext>
            </a:extLst>
          </p:cNvPr>
          <p:cNvSpPr>
            <a:spLocks noGrp="1"/>
          </p:cNvSpPr>
          <p:nvPr>
            <p:ph type="body" idx="1"/>
          </p:nvPr>
        </p:nvSpPr>
        <p:spPr/>
        <p:txBody>
          <a:bodyPr/>
          <a:lstStyle/>
          <a:p>
            <a:r>
              <a:rPr lang="en-US"/>
              <a:t>Peningkatan Produktivitas Kerja:`n`nSisi positif yang paling menonjol: 100% responden sepakat bahwa website PPID hasil optimalisasi yang baru ini meningkatkan produktivitas pelaporan berkas publik secara SIGNIFIKAN dibanding sistem sebelumnya. Ini membuktikan pentingnya kelanjutan operasional aplikasi.</a:t>
            </a:r>
          </a:p>
        </p:txBody>
      </p:sp>
    </p:spTree>
    <p:extLst>
      <p:ext uri="{BB962C8B-B14F-4D97-AF65-F5344CB8AC3E}">
        <p14:creationId xmlns:p14="http://schemas.microsoft.com/office/powerpoint/2010/main" val="2827866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F505A-02A7-886D-4082-53C26A8830A3}"/>
              </a:ext>
            </a:extLst>
          </p:cNvPr>
          <p:cNvSpPr>
            <a:spLocks noGrp="1"/>
          </p:cNvSpPr>
          <p:nvPr>
            <p:ph type="title"/>
          </p:nvPr>
        </p:nvSpPr>
        <p:spPr/>
        <p:txBody>
          <a:bodyPr/>
          <a:lstStyle/>
          <a:p>
            <a:r>
              <a:rPr lang="en-US"/>
              <a:t>Analisis Kualitatif: Kendala Utama</a:t>
            </a:r>
          </a:p>
        </p:txBody>
      </p:sp>
      <p:sp>
        <p:nvSpPr>
          <p:cNvPr id="3" name="Text Placeholder 2">
            <a:extLst>
              <a:ext uri="{FF2B5EF4-FFF2-40B4-BE49-F238E27FC236}">
                <a16:creationId xmlns:a16="http://schemas.microsoft.com/office/drawing/2014/main" id="{504EF5DE-289F-E99D-6259-7DEFD1A316A6}"/>
              </a:ext>
            </a:extLst>
          </p:cNvPr>
          <p:cNvSpPr>
            <a:spLocks noGrp="1"/>
          </p:cNvSpPr>
          <p:nvPr>
            <p:ph type="body" idx="1"/>
          </p:nvPr>
        </p:nvSpPr>
        <p:spPr/>
        <p:txBody>
          <a:bodyPr/>
          <a:lstStyle/>
          <a:p>
            <a:r>
              <a:rPr lang="en-US"/>
              <a:t>1. Infrastruktur Jaringan:`n   Koneksi internet di dinas sering lambat/tidak stabil, menghambat upload PDF besar.`n2. Ketersediaan Berkas Fisik:`n   Berkas sering masih berupa fisik, sehingga butuh waktu ekstra untuk proses scan.`n3. Keterbatasan Pemahaman Operator Baru:`n   Operator baru masih perlu pendampingan karena instruksi teks pada antarmuka dinilai minim informasi.</a:t>
            </a:r>
          </a:p>
        </p:txBody>
      </p:sp>
    </p:spTree>
    <p:extLst>
      <p:ext uri="{BB962C8B-B14F-4D97-AF65-F5344CB8AC3E}">
        <p14:creationId xmlns:p14="http://schemas.microsoft.com/office/powerpoint/2010/main" val="4119526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E8F00-1334-9859-0DBA-178C14B3F786}"/>
              </a:ext>
            </a:extLst>
          </p:cNvPr>
          <p:cNvSpPr>
            <a:spLocks noGrp="1"/>
          </p:cNvSpPr>
          <p:nvPr>
            <p:ph type="title"/>
          </p:nvPr>
        </p:nvSpPr>
        <p:spPr/>
        <p:txBody>
          <a:bodyPr/>
          <a:lstStyle/>
          <a:p>
            <a:r>
              <a:rPr lang="en-US"/>
              <a:t>Usulan Solusi &amp; Fitur Baru (Bagian 1)</a:t>
            </a:r>
          </a:p>
        </p:txBody>
      </p:sp>
      <p:sp>
        <p:nvSpPr>
          <p:cNvPr id="3" name="Text Placeholder 2">
            <a:extLst>
              <a:ext uri="{FF2B5EF4-FFF2-40B4-BE49-F238E27FC236}">
                <a16:creationId xmlns:a16="http://schemas.microsoft.com/office/drawing/2014/main" id="{2353256E-E09A-48C2-99C5-5BBF25BB300F}"/>
              </a:ext>
            </a:extLst>
          </p:cNvPr>
          <p:cNvSpPr>
            <a:spLocks noGrp="1"/>
          </p:cNvSpPr>
          <p:nvPr>
            <p:ph type="body" idx="1"/>
          </p:nvPr>
        </p:nvSpPr>
        <p:spPr/>
        <p:txBody>
          <a:bodyPr/>
          <a:lstStyle/>
          <a:p>
            <a:r>
              <a:rPr lang="en-US"/>
              <a:t>• Pemantau Kelengkapan Mandiri (Self-Monitoring):`n  Dashboard khusus agar admin OPD bisa mengecek persentase kelengkapan dokumen mereka sendiri tanpa menunggu PPID Utama.`n• Integrasi Satu Pintu:`n  Terkoneksinya dashboard PPID dengan website internal OPD untuk menghindari upload ganda (dua kali kerja).</a:t>
            </a:r>
          </a:p>
        </p:txBody>
      </p:sp>
    </p:spTree>
    <p:extLst>
      <p:ext uri="{BB962C8B-B14F-4D97-AF65-F5344CB8AC3E}">
        <p14:creationId xmlns:p14="http://schemas.microsoft.com/office/powerpoint/2010/main" val="1375247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2DF96-366B-A772-66FD-C5D308988A4C}"/>
              </a:ext>
            </a:extLst>
          </p:cNvPr>
          <p:cNvSpPr>
            <a:spLocks noGrp="1"/>
          </p:cNvSpPr>
          <p:nvPr>
            <p:ph type="title"/>
          </p:nvPr>
        </p:nvSpPr>
        <p:spPr/>
        <p:txBody>
          <a:bodyPr/>
          <a:lstStyle/>
          <a:p>
            <a:r>
              <a:rPr lang="en-US"/>
              <a:t>Usulan Solusi &amp; Fitur Baru (Bagian 2)</a:t>
            </a:r>
          </a:p>
        </p:txBody>
      </p:sp>
      <p:sp>
        <p:nvSpPr>
          <p:cNvPr id="3" name="Text Placeholder 2">
            <a:extLst>
              <a:ext uri="{FF2B5EF4-FFF2-40B4-BE49-F238E27FC236}">
                <a16:creationId xmlns:a16="http://schemas.microsoft.com/office/drawing/2014/main" id="{BE6EA9AA-15B3-EE87-026A-7710CE415701}"/>
              </a:ext>
            </a:extLst>
          </p:cNvPr>
          <p:cNvSpPr>
            <a:spLocks noGrp="1"/>
          </p:cNvSpPr>
          <p:nvPr>
            <p:ph type="body" idx="1"/>
          </p:nvPr>
        </p:nvSpPr>
        <p:spPr/>
        <p:txBody>
          <a:bodyPr/>
          <a:lstStyle/>
          <a:p>
            <a:r>
              <a:rPr lang="en-US"/>
              <a:t>• Sinkronisasi Luring (Offline/Buffer Upload):`n  Bisa input saat offline, dan sistem otomatis upload saat jaringan internet kembali normal.`n• Aplikasi Mobile (Mobile App):`n  Aplikasi Android agar lebih praktis bagi operator dengan mobilitas tinggi.`n• Sistem Notifikasi Pintar:`n  Push notification untuk berita, pembaruan aturan, dan peringatan kelengkapan data.</a:t>
            </a:r>
          </a:p>
        </p:txBody>
      </p:sp>
    </p:spTree>
    <p:extLst>
      <p:ext uri="{BB962C8B-B14F-4D97-AF65-F5344CB8AC3E}">
        <p14:creationId xmlns:p14="http://schemas.microsoft.com/office/powerpoint/2010/main" val="2281430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A46AB-ABB3-CC1F-D0AD-CEF2B0B00500}"/>
              </a:ext>
            </a:extLst>
          </p:cNvPr>
          <p:cNvSpPr>
            <a:spLocks noGrp="1"/>
          </p:cNvSpPr>
          <p:nvPr>
            <p:ph type="title"/>
          </p:nvPr>
        </p:nvSpPr>
        <p:spPr/>
        <p:txBody>
          <a:bodyPr/>
          <a:lstStyle/>
          <a:p>
            <a:r>
              <a:rPr lang="en-US"/>
              <a:t>Kesimpulan &amp; Saran</a:t>
            </a:r>
          </a:p>
        </p:txBody>
      </p:sp>
      <p:sp>
        <p:nvSpPr>
          <p:cNvPr id="3" name="Text Placeholder 2">
            <a:extLst>
              <a:ext uri="{FF2B5EF4-FFF2-40B4-BE49-F238E27FC236}">
                <a16:creationId xmlns:a16="http://schemas.microsoft.com/office/drawing/2014/main" id="{FBEE3C9F-FCF7-EFAB-8982-C22774FA90D7}"/>
              </a:ext>
            </a:extLst>
          </p:cNvPr>
          <p:cNvSpPr>
            <a:spLocks noGrp="1"/>
          </p:cNvSpPr>
          <p:nvPr>
            <p:ph type="body" idx="1"/>
          </p:nvPr>
        </p:nvSpPr>
        <p:spPr/>
        <p:txBody>
          <a:bodyPr/>
          <a:lstStyle/>
          <a:p>
            <a:r>
              <a:rPr lang="en-US"/>
              <a:t>Kesimpulan:`nOptimalisasi website terbukti 100% sukses meningkatkan produktivitas kerja admin OPD. Fitur pengkategorian otomatis, error handling yang jelas, serta desain UI/UX yang modern adalah faktor kunci penentunya.`n`nSaran/Rekomendasi Utama:`n1. Segera kembangkan modul "Pemantauan Progress OPD" agar kelengkapan dokumen lebih tervisualisasi.`n2. Pertahankan dan pelihara kualitas desain UI/UX yang saat ini sudah sangat diapresiasi oleh operator.</a:t>
            </a:r>
          </a:p>
        </p:txBody>
      </p:sp>
    </p:spTree>
    <p:extLst>
      <p:ext uri="{BB962C8B-B14F-4D97-AF65-F5344CB8AC3E}">
        <p14:creationId xmlns:p14="http://schemas.microsoft.com/office/powerpoint/2010/main" val="3211747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633</Words>
  <Application>Microsoft Office PowerPoint</Application>
  <PresentationFormat>Widescreen</PresentationFormat>
  <Paragraphs>22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Evaluasi Usability Website PPID</vt:lpstr>
      <vt:lpstr>Latar Belakang &amp; Tujuan</vt:lpstr>
      <vt:lpstr>Hasil Evaluasi: Pengunggahan &amp; Pengelompokan</vt:lpstr>
      <vt:lpstr>Hasil Evaluasi: Verifikasi &amp; Alur Kerja</vt:lpstr>
      <vt:lpstr>Temuan Kritis 1: Error Handling</vt:lpstr>
      <vt:lpstr>Temuan Kritis 2: Desain Antarmuka (UI/UX)</vt:lpstr>
      <vt:lpstr>Temuan Kritis 3: Produktivitas Kerja</vt:lpstr>
      <vt:lpstr>Analisis Kualitatif: Kendala Utama</vt:lpstr>
      <vt:lpstr>Usulan Solusi &amp; Fitur Baru (Bagian 1)</vt:lpstr>
      <vt:lpstr>Usulan Solusi &amp; Fitur Baru (Bagian 2)</vt:lpstr>
      <vt:lpstr>Kesimpulan &amp; Saran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 ID</dc:creator>
  <cp:lastModifiedBy>ASUS ID</cp:lastModifiedBy>
  <cp:revision>1</cp:revision>
  <dcterms:created xsi:type="dcterms:W3CDTF">2026-08-10T01:16:55Z</dcterms:created>
  <dcterms:modified xsi:type="dcterms:W3CDTF">2026-08-10T01:16:55Z</dcterms:modified>
</cp:coreProperties>
</file>